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44"/>
  </p:notesMasterIdLst>
  <p:handoutMasterIdLst>
    <p:handoutMasterId r:id="rId45"/>
  </p:handoutMasterIdLst>
  <p:sldIdLst>
    <p:sldId id="256" r:id="rId5"/>
    <p:sldId id="257" r:id="rId6"/>
    <p:sldId id="262" r:id="rId7"/>
    <p:sldId id="258" r:id="rId8"/>
    <p:sldId id="259" r:id="rId9"/>
    <p:sldId id="261" r:id="rId10"/>
    <p:sldId id="260" r:id="rId11"/>
    <p:sldId id="266" r:id="rId12"/>
    <p:sldId id="268" r:id="rId13"/>
    <p:sldId id="267" r:id="rId14"/>
    <p:sldId id="263" r:id="rId15"/>
    <p:sldId id="265" r:id="rId16"/>
    <p:sldId id="264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2" r:id="rId30"/>
    <p:sldId id="283" r:id="rId31"/>
    <p:sldId id="284" r:id="rId32"/>
    <p:sldId id="281" r:id="rId33"/>
    <p:sldId id="285" r:id="rId34"/>
    <p:sldId id="286" r:id="rId35"/>
    <p:sldId id="287" r:id="rId36"/>
    <p:sldId id="288" r:id="rId37"/>
    <p:sldId id="289" r:id="rId38"/>
    <p:sldId id="291" r:id="rId39"/>
    <p:sldId id="290" r:id="rId40"/>
    <p:sldId id="292" r:id="rId41"/>
    <p:sldId id="293" r:id="rId42"/>
    <p:sldId id="294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3F00"/>
    <a:srgbClr val="FFFFFF"/>
    <a:srgbClr val="E4B429"/>
    <a:srgbClr val="FFD54F"/>
    <a:srgbClr val="FFEA3D"/>
    <a:srgbClr val="FFFFAA"/>
    <a:srgbClr val="E0249A"/>
    <a:srgbClr val="0073CF"/>
    <a:srgbClr val="57068C"/>
    <a:srgbClr val="FFD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83" autoAdjust="0"/>
    <p:restoredTop sz="88489" autoAdjust="0"/>
  </p:normalViewPr>
  <p:slideViewPr>
    <p:cSldViewPr snapToGrid="0">
      <p:cViewPr varScale="1">
        <p:scale>
          <a:sx n="53" d="100"/>
          <a:sy n="53" d="100"/>
        </p:scale>
        <p:origin x="100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92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E4E57-1CF6-4440-8310-3CBE926400C3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3DC02-E926-F143-BEA7-834664C01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E97C-1779-4CEE-80D0-5BBB1AC4023D}" type="datetimeFigureOut">
              <a:rPr lang="en-US" smtClean="0"/>
              <a:t>8/16/2025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F7D1-689C-4BC1-B59B-4A4CE078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930DF486-3438-A340-9F75-BB86BE289D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6056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7E6BEA-9D28-86FA-D573-63E937A96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4DF45C-A64A-062F-9CED-3E842F488317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B245BA-2894-CA76-0F75-D34749BB980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20A4491-7F26-FD1F-E922-D16588A2AF7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4467DA2-12C4-867B-1A08-D4BC12EE3119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B127630-A949-31A6-994A-2119B96BA2F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559227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E5E2D7B7-C046-952F-FFBF-CDF3C05A39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976B466-9D8C-A8C3-EB96-3631DC205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AAEAB53-3AF3-394F-5A0D-265C448ECA6E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D4BD0F5-AD43-7157-6853-3CD55084FE7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F12FAF-5A82-CC83-3020-79FECB6A9B1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E8C28B-8279-2C62-9323-C451CFBB294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CBBFB6-9B79-D3A2-687E-255A236C9639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183547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University of Waterloo Faculty of Engineering logo">
            <a:extLst>
              <a:ext uri="{FF2B5EF4-FFF2-40B4-BE49-F238E27FC236}">
                <a16:creationId xmlns:a16="http://schemas.microsoft.com/office/drawing/2014/main" id="{C7842B6A-813C-FA45-B88D-CE413A77F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254931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69F524-D51C-40DB-F389-1673BFAA4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859F7A-5A85-CDB2-227D-E72CEFB48AF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991028-4405-8861-5C0F-DDCED6AE10C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10B4E87-130B-529C-B325-CF2152D17DB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3B4BA68-9EA4-7A22-3621-B9ED64303A72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15C994C-FB53-4A65-2E87-41A181943148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89522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61486EB2-DBB7-6812-FFCB-C07E1DEE6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4CF5075-07D9-F9E3-0595-1A0D8C92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D24995-6F05-8ECB-D3BE-0691DF97B91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836C1D7-6B11-F5C9-0533-3719C5ECB00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69C97C2-B343-C17E-D528-65C442051DD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8ED34F6-8D98-D192-5DBF-F8BDC1DB62E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E4B2663-04FA-0615-C4BC-D798630AB8B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10676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8/16/2025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Progress Update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32321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8/16/2025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b="1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3625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8/16/2025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2115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8200"/>
            <a:ext cx="8770620" cy="1212056"/>
          </a:xfrm>
        </p:spPr>
        <p:txBody>
          <a:bodyPr anchor="b">
            <a:noAutofit/>
          </a:bodyPr>
          <a:lstStyle>
            <a:lvl1pPr algn="l">
              <a:defRPr sz="4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8086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8/16/2025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8BDD71-5673-C3E4-61B8-8F8F04130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BF8245-E943-0D71-7CC0-09B6B4E3260B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2D8089-B052-A801-A878-B773A49F861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3A2417-24CA-2534-65B9-CAFF9B77F07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BD4852-C253-61D4-26E8-4222BFD9B55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DAFAF2-35DA-8050-8069-401CD4268EF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7483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8/16/2025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1648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8/16/2025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59864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8/16/2025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Progress Update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487075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8/16/2025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16560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8/16/2025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F0E357-D0D7-C8D3-9BB9-CBCD595E2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F904F2D-EB5B-78C1-C9CD-AD22B98AAF2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3A6C96-3A16-4F62-35CE-95FC1296115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CB83E9C-7246-D12C-1E4F-7F8C8CACBCB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A84279-81BF-BD14-75E3-45D84ED22AE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C3DEA0-E90A-8F4E-6FCC-22A0591AE8A4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67841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8/16/2025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B5677E-A76C-D8C2-715E-D2CC90E70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97014F-8428-CB57-EA94-4926AC5048D6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08710D-B7A2-5B78-4CA2-26A7E60D2EA8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BC1D33-6438-5920-7D04-F461F1F2C24C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584E8BE-411E-3D79-1AEB-CFBE9515CD5B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A2D3D3E-C28F-C346-1738-B63D4769D73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419811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07867"/>
            <a:ext cx="5440648" cy="5445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8/16/2025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79637" y="6335309"/>
            <a:ext cx="1016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88D66E9-C096-F7E5-4608-69F3BFAA0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20D476-3C3C-17FB-6B9D-62877266FDD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A3B59E-EB98-37C9-ABAF-5F298CBCB50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9ADF04-D661-134D-CEBE-7284FCA07F2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B66F9EB-2209-AA77-54BB-874DD242922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E99F41D-6A52-4E41-CCC6-4F322B85979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17354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8/16/2025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E3B45F-F7EF-7AC1-2F71-A8F707B47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7FF446-A027-DF9C-2EF7-BB8A71A92C2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4DBD243-4CC4-FC6A-A3EF-134F0475518A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51E8B32-A35D-0923-E7EE-4693F5A56614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4998BE-5F59-2840-05C4-7AFCED90F6C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71EFAE3-6B14-DE22-01D0-2E8AFF7CD36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728093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5364A90-0797-F96E-F770-FF1A12CE0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350EA6-F3C3-B71A-2AE8-59D70268626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FD5CBB-2458-6136-9C90-A6C4B927AC9B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84D87D-DBE9-B3EF-FFB3-C2AFE2A77403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1F04D2-CB9A-2272-4643-01B4FAAC439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6161E2-6AF6-CD93-0C7B-DE95E53B4B4C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82872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AC575D-0FA9-A38D-9797-156B5AA8A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72D70FB-ADA6-5E6E-29B1-A1623DE361B1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40349B-8324-5C56-8910-78C4E6366CCD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12A301-E6DF-7760-3D01-B0933E87104E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F068C1-6FE1-DFD6-F0F5-A3F1F8A8E5C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3460B5-979B-9830-988B-CA56409C364F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502277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8/16/2025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08F22C7D-C1E2-3043-B369-F9AA670BF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7" y="985586"/>
            <a:ext cx="6096143" cy="40752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7CA9BB1-9C2E-4569-BE1D-5D7F529E6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A410A60-FA9B-1ECF-958F-BC27BB5C2E9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C5613F-FE3A-A7CF-B132-7779C8C132EE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E9D1A7-9583-C584-47EB-0627750BD7C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6DCD87-2E74-CDA8-1BA0-3DE81AD3380C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D214E4-DEB6-B4CF-DF1D-A1A345D13201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967735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985586"/>
            <a:ext cx="6096143" cy="4075200"/>
          </a:xfrm>
          <a:prstGeom prst="rect">
            <a:avLst/>
          </a:prstGeom>
          <a:effectLst/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8C08A7A-273E-2AF6-423F-B3A31B4E8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364F3F-3B82-84E7-CBE7-02C3AEE04520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B8ADAC-7828-B63A-D5DA-453F6E05F127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D015563-E92F-C342-9A7D-30F6A4E8A03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A7D1E3D-066D-CE3E-D814-48C37B5F91F3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511196A-9E52-FC64-5031-EB102393BE1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2082862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799131"/>
            <a:ext cx="6096143" cy="4075200"/>
          </a:xfrm>
          <a:prstGeom prst="rect">
            <a:avLst/>
          </a:prstGeom>
          <a:effectLst/>
        </p:spPr>
      </p:pic>
      <p:pic>
        <p:nvPicPr>
          <p:cNvPr id="16" name="Picture 15" descr="YOU+WATERLOO">
            <a:extLst>
              <a:ext uri="{FF2B5EF4-FFF2-40B4-BE49-F238E27FC236}">
                <a16:creationId xmlns:a16="http://schemas.microsoft.com/office/drawing/2014/main" id="{447C4EF9-A5C2-5947-9C94-BD3C8A011B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7315" y="4854114"/>
            <a:ext cx="1817370" cy="5143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13A5EE-7ACD-F44B-B9D4-9E14E16B8E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7482" y="5539328"/>
            <a:ext cx="3717036" cy="24345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5551F98-0A77-9BFF-9522-8E7ECCBB7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1BD5278-A732-132E-D1BB-5FC1F8CDD5E2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F4F076-A524-9C72-246E-4632FB7B683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66D408-FB48-5753-CC50-CD16F619FAF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B35BE29-48EB-34E3-E99E-5D6ECC453C11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53627FE-0E92-6205-F722-7C260F139C8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187465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University of Waterloo Faculty of Engineering logo">
            <a:extLst>
              <a:ext uri="{FF2B5EF4-FFF2-40B4-BE49-F238E27FC236}">
                <a16:creationId xmlns:a16="http://schemas.microsoft.com/office/drawing/2014/main" id="{75D18FC7-EB3D-A142-853C-7A6BC4BDE92C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19902" y="5992113"/>
            <a:ext cx="3262499" cy="89673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8/16/2025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Progress Update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370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14" r:id="rId2"/>
    <p:sldLayoutId id="2147483715" r:id="rId3"/>
    <p:sldLayoutId id="2147483716" r:id="rId4"/>
    <p:sldLayoutId id="2147483670" r:id="rId5"/>
    <p:sldLayoutId id="2147483693" r:id="rId6"/>
    <p:sldLayoutId id="2147483671" r:id="rId7"/>
    <p:sldLayoutId id="2147483690" r:id="rId8"/>
    <p:sldLayoutId id="2147483672" r:id="rId9"/>
    <p:sldLayoutId id="2147483673" r:id="rId10"/>
    <p:sldLayoutId id="2147483674" r:id="rId11"/>
    <p:sldLayoutId id="2147483675" r:id="rId12"/>
    <p:sldLayoutId id="2147483710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12" r:id="rId19"/>
    <p:sldLayoutId id="2147483713" r:id="rId20"/>
    <p:sldLayoutId id="2147483723" r:id="rId21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740" y="1028940"/>
            <a:ext cx="9605660" cy="1474115"/>
          </a:xfrm>
        </p:spPr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>
            <a:normAutofit/>
          </a:bodyPr>
          <a:lstStyle/>
          <a:p>
            <a:r>
              <a:rPr lang="en-US" dirty="0"/>
              <a:t>Fateme Mohammad Mohammadi,</a:t>
            </a:r>
            <a:br>
              <a:rPr lang="en-US" dirty="0"/>
            </a:br>
            <a:r>
              <a:rPr lang="en-US" dirty="0"/>
              <a:t>Chemical Engineering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</p:spPr>
        <p:txBody>
          <a:bodyPr/>
          <a:lstStyle/>
          <a:p>
            <a:r>
              <a:rPr lang="en-US" dirty="0"/>
              <a:t>8/5/2025</a:t>
            </a:r>
          </a:p>
        </p:txBody>
      </p:sp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37D06-9DEE-FC6D-433B-EC3129357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 and g defined explicitly and calculated based on </a:t>
            </a:r>
            <a:r>
              <a:rPr lang="en-US" dirty="0" err="1"/>
              <a:t>Ca,Cb,Cc</a:t>
            </a:r>
            <a:r>
              <a:rPr lang="en-US" dirty="0"/>
              <a:t> of NN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772BDA-AC6B-BED4-D221-45E32230C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DB4EE-77E2-0D7B-3123-DAB2BD96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35B305F-A538-E47E-0DF3-1269BDE6CB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4983" y="1414936"/>
            <a:ext cx="8840434" cy="4591691"/>
          </a:xfrm>
        </p:spPr>
      </p:pic>
    </p:spTree>
    <p:extLst>
      <p:ext uri="{BB962C8B-B14F-4D97-AF65-F5344CB8AC3E}">
        <p14:creationId xmlns:p14="http://schemas.microsoft.com/office/powerpoint/2010/main" val="43470074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13379-C775-62AE-8B2B-745B196C2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 and g defined explicitly and calculated based on </a:t>
            </a:r>
            <a:r>
              <a:rPr lang="en-US" dirty="0" err="1"/>
              <a:t>Ca,Cb,Cc</a:t>
            </a:r>
            <a:r>
              <a:rPr lang="en-US" dirty="0"/>
              <a:t> of 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64EE7-DC19-80DB-C788-5F3F5DD9E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KKThPINN</a:t>
            </a:r>
            <a:r>
              <a:rPr lang="en-US" dirty="0"/>
              <a:t> Training Loss (Epoch 1000): 0.0015935207548965935</a:t>
            </a:r>
          </a:p>
          <a:p>
            <a:r>
              <a:rPr lang="en-US" dirty="0" err="1"/>
              <a:t>KKThPINN</a:t>
            </a:r>
            <a:r>
              <a:rPr lang="en-US" dirty="0"/>
              <a:t> Validation Loss (Epoch 1000): 0.0012231898124928475</a:t>
            </a:r>
          </a:p>
          <a:p>
            <a:r>
              <a:rPr lang="en-US" dirty="0"/>
              <a:t>NN Training Loss (Epoch 1000): 0.00776587056386453</a:t>
            </a:r>
          </a:p>
          <a:p>
            <a:r>
              <a:rPr lang="en-US" dirty="0"/>
              <a:t>NN Validation Loss (Epoch 1000): 0.006291127326489218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28257E-65D2-296D-081C-B520AEBC1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5742C9-5B3B-F03F-1E0F-DAF076833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6208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941EC-2F1D-FB73-17B6-6A6E6EDB3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 and g defined explicitly and calculated based on </a:t>
            </a:r>
            <a:r>
              <a:rPr lang="en-US" dirty="0" err="1"/>
              <a:t>Ca,Cb,Cc</a:t>
            </a:r>
            <a:r>
              <a:rPr lang="en-US" dirty="0"/>
              <a:t> of NN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D5F785-6C76-4CE7-5CC2-640504A90F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3115" y="1429225"/>
            <a:ext cx="8564170" cy="4563112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3F13E8-48EE-A819-B402-E614AAE72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9081A-6E8A-A862-12DB-F94F16B2C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46275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99ABA-B822-5426-474C-81F97A835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the 5 outputs of NN in the KKT model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8003C0-CF8F-15B8-AFF7-901EB7DA1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4536" y="1457804"/>
            <a:ext cx="8621328" cy="4505954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9A033-318F-D2CE-855E-C208BE3D6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7C1B4D-57EA-5198-9870-3CD8C4AF7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57058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FD004-E856-63EA-9072-3EBAFE83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the 5 outputs of NN in the KKT model – loss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A7E20-F13E-F76C-4E9A-F72A801C5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KKThPINN</a:t>
            </a:r>
            <a:r>
              <a:rPr lang="en-US" dirty="0"/>
              <a:t> Training Loss (Epoch 1000): 0.000649441753959758</a:t>
            </a:r>
          </a:p>
          <a:p>
            <a:r>
              <a:rPr lang="en-US" dirty="0" err="1"/>
              <a:t>KKThPINN</a:t>
            </a:r>
            <a:r>
              <a:rPr lang="en-US" dirty="0"/>
              <a:t> Validation Loss (Epoch 1000): 0.0005778171043754823</a:t>
            </a:r>
          </a:p>
          <a:p>
            <a:r>
              <a:rPr lang="en-US" dirty="0"/>
              <a:t>NN Training Loss (Epoch 1000): 0.009564732329233017</a:t>
            </a:r>
          </a:p>
          <a:p>
            <a:r>
              <a:rPr lang="en-US" dirty="0"/>
              <a:t>NN Validation Loss (Epoch 1000): 0.007198991886844008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D302E3-41E5-8390-6EFD-A325A4A40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416CAF-980B-2FB6-E0B7-8257BCDF8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08984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4984F-91C2-2CE4-B4F9-E810C2EAF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the 5 outputs of NN in the KKT model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87F8CD6-7FC7-2FA1-D295-710AB6ECB1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9746" y="1467331"/>
            <a:ext cx="8830907" cy="4486901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54B7E-5574-D563-2988-236F97FD6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D5761-D6E5-C448-907F-A8484B612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01174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6C99-1E43-E8C6-059B-4CE6BC314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the 4 outputs of NN in the KKT model, Ca, </a:t>
            </a:r>
            <a:r>
              <a:rPr lang="en-US" dirty="0" err="1"/>
              <a:t>Cb</a:t>
            </a:r>
            <a:r>
              <a:rPr lang="en-US" dirty="0"/>
              <a:t>, Cc, </a:t>
            </a:r>
            <a:r>
              <a:rPr lang="en-US" dirty="0" err="1"/>
              <a:t>f+g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4839A7A-CB62-3F29-EBE5-00C84FBB5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844" y="1412875"/>
            <a:ext cx="8756711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BBB089-5929-B52A-2A8B-1899DC4B4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CAF44A-2213-A6FD-8CDB-9C0C7BE6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59310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D15D6-8B55-DC91-2DC6-A0159283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the 4 outputs of NN in the KKT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2FED1-E598-33AF-6B80-667682CD7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KKThPINN</a:t>
            </a:r>
            <a:r>
              <a:rPr lang="en-US" dirty="0"/>
              <a:t> Training Loss (Epoch 1000): 0.00011754719475802074</a:t>
            </a:r>
          </a:p>
          <a:p>
            <a:r>
              <a:rPr lang="en-US" dirty="0" err="1"/>
              <a:t>KKThPINN</a:t>
            </a:r>
            <a:r>
              <a:rPr lang="en-US" dirty="0"/>
              <a:t> Validation Loss (Epoch 1000): 0.0001061892212423211</a:t>
            </a:r>
          </a:p>
          <a:p>
            <a:r>
              <a:rPr lang="en-US" dirty="0"/>
              <a:t>NN Training Loss (Epoch 1000): 0.00022777821932331273</a:t>
            </a:r>
          </a:p>
          <a:p>
            <a:r>
              <a:rPr lang="en-US" dirty="0"/>
              <a:t>NN Validation Loss (Epoch 1000): 0.00024855702375408664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F02A83-9BC7-D5BC-F3C6-97AD36FF5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74FB8F-F04E-F74A-3F7D-B6AD036BA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71029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F9E2C-685F-7959-26A4-AF96AD69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the 4 outputs of NN in the KKT model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CDEFE9D-4BF4-95A1-ABC1-23BC09950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7623" y="1412875"/>
            <a:ext cx="8635153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CBEC72-48EF-80DA-9AE6-6E3796CC7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4D949-FC0A-7C7D-CB11-604FF899F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29428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C5D48-C993-3617-648B-CDC776D6E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the 2 outputs of NN in the KKT model, Ca and </a:t>
            </a:r>
            <a:r>
              <a:rPr lang="en-US" dirty="0" err="1"/>
              <a:t>f+g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3ED5682-CA8B-88F1-D33B-714A23143A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3926" y="1412875"/>
            <a:ext cx="9442547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32C592-7B83-AE91-0BA6-E965EDD54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D59DD3-8108-5EE6-7A23-38B61A03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6555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D3B86-50C9-2CAE-9B3F-313964DB3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the 2 outputs of NN in the KKT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3086A-D587-395F-0D61-C743DF64E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KKThPINN</a:t>
            </a:r>
            <a:r>
              <a:rPr lang="en-US" dirty="0"/>
              <a:t> Training Loss (Epoch 1000): 5.5391030010630224e-05</a:t>
            </a:r>
          </a:p>
          <a:p>
            <a:r>
              <a:rPr lang="en-US" dirty="0" err="1"/>
              <a:t>KKThPINN</a:t>
            </a:r>
            <a:r>
              <a:rPr lang="en-US" dirty="0"/>
              <a:t> Validation Loss (Epoch 1000): 5.5798046694264723e-05</a:t>
            </a:r>
          </a:p>
          <a:p>
            <a:r>
              <a:rPr lang="en-US" dirty="0"/>
              <a:t>NN Training Loss (Epoch 1000): 0.00014969633853121865</a:t>
            </a:r>
          </a:p>
          <a:p>
            <a:r>
              <a:rPr lang="en-US" dirty="0"/>
              <a:t>NN Validation Loss (Epoch 1000): 0.0001402782563571227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D98A61-2F9B-7CB1-5F76-5D6D261BD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39F36-6DF2-3A78-66CB-EB4A73554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99641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3822D-C0C0-F1E9-0A3C-E214B9BC7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the 2 outputs of NN in the KKT model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DCFC36-0BBF-2524-EAEF-68E539EBC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9667" y="1412875"/>
            <a:ext cx="8911066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00C87A-69EE-B842-BC0A-78581A8A4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D055A-EFC5-B644-BB45-A44376F0D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89092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018C7-571B-0DD4-51CE-6B7D16054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 32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97FF1E2-7CAD-A7DF-FDF4-21E66BC6BC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2699" y="1412875"/>
            <a:ext cx="8085002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35CF4-8094-F534-8700-ABA6089A4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C24BD7-9593-6976-A92F-2C277DD19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71691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0A727-A7AD-5808-1189-76952FFFE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 32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312AA0F-9889-689A-AD5D-5E2B39A84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6448" y="1412875"/>
            <a:ext cx="8717504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F7C09-E46F-F780-F80E-656132AEF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B2A25F-84B0-6B8E-0202-8F77AE2B4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601564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4FC84-5DA2-9A98-A12D-86B23B161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 32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C928064-0991-A105-9C13-4894596D8A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2078" y="1412875"/>
            <a:ext cx="8746244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930C1B-B11C-1366-1A84-13099A491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90516-CDE7-F041-98F8-964F9ACB5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05452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86BF2-EB2C-D9FF-834F-64BA0129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 64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BC773-70EA-5703-BC60-97246F0F4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0B381-1AAB-B4DF-80F7-8F38B028B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CC5A0B4-E5AB-7372-52C3-105B9ED9D5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5485" y="1412875"/>
            <a:ext cx="8099429" cy="4595813"/>
          </a:xfrm>
        </p:spPr>
      </p:pic>
    </p:spTree>
    <p:extLst>
      <p:ext uri="{BB962C8B-B14F-4D97-AF65-F5344CB8AC3E}">
        <p14:creationId xmlns:p14="http://schemas.microsoft.com/office/powerpoint/2010/main" val="219510069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63098-EB28-22D9-29E1-47A77F57F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 64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98127A9-0A5B-5D78-E169-369367F317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7414" y="1412875"/>
            <a:ext cx="8935572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FC6E3-3F4A-39C4-F670-C31AA608B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909FF-0BB2-93A7-5F43-CF56777C0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310944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0517-DC14-A10A-5E7C-AE9DB2BAA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 64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5AC2C3-DE1F-E957-9229-55BA01FBD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2646" y="1412875"/>
            <a:ext cx="8925107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40D92A-82CE-2935-D906-7EE27C885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0996FC-C0AB-2279-A250-031D51BB2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937315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6F070-7A65-CE95-A0BF-4D6DE4BD0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644B829-5ED4-3D48-E7CA-C4C2D64B5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2732" y="1412875"/>
            <a:ext cx="5404935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7D7837-3AB5-8CEA-7A2F-2F116AF9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84E9DD-382E-DE67-55EE-FF126294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857024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52F90-0D69-311D-9B93-841AAC2F5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Smaller coefficients, divide by b.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BF6C762-0BE4-7E9D-5A67-AE1842F6B8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2236" y="1412875"/>
            <a:ext cx="8205928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3ECF0-4053-9942-3A6C-0E17EDC7A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29D11-FBA1-156F-C835-B0AC9F60F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17976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6F36F-0872-A98B-5006-171FA5BFD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by the norm of A and B- geometric normalization (?)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11D9E63-158B-6B62-3834-FA797B7A9C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0399" y="1412875"/>
            <a:ext cx="8309601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31FDC9-6CC1-4E17-282A-401AE39B8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B9289D-B147-A918-0AF7-7A41CB7B8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246643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7057A-5C28-2847-9D1D-1FCFDDF05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58EBA4B-AC5F-3875-D553-B2A027D397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9240" y="1412875"/>
            <a:ext cx="6991920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EC94EF-442D-1D1F-A230-4199EACD2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BF468-79AE-2949-2B35-AEFDD8045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368354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C759-79F7-FF75-813C-ACABB323B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959697A-B210-93A8-25DB-62395826AA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8289" y="1412875"/>
            <a:ext cx="8953822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5D429-A022-6F92-9544-1638922E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90F0A0-F8AA-EFB1-73C7-BF4C613D8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372527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5DA29-ABAA-7884-1C1D-467A5F0A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E9C2506-01E3-D280-26D9-388498E36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0840" y="1412875"/>
            <a:ext cx="8988720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BB9D3-7884-4E63-F331-30C12E0E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DD9AE-EA63-E794-5C27-4ACEC8BE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255665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CEC82-43D6-5D53-313A-D8895133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E9A76A2-97F2-BDFC-A189-DAB38CB206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7567" y="1412875"/>
            <a:ext cx="9055266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719C51-FA7A-D180-6189-07A3F0ADE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D1BFB-025F-D1DA-68BD-FD749A36D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43896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D7466-55B7-BEBD-9CEB-809CAC5C9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AE1D51C-3030-3397-7F7D-FA959E4F59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7777" y="1412875"/>
            <a:ext cx="9454845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BE8E2-2748-DBD2-81E8-B29EEF3A5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508BB-9509-4D6C-9AB5-89C6ADA8D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066859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1BEEA-C8A7-508E-45F8-3A76885CA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DEB11A2-B2D5-54AC-E87D-5BC64F1A8C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7991" y="1412875"/>
            <a:ext cx="9334418" cy="45958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E5397-BA5B-4B11-EAD5-235EF69D5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CC0AC-0A3B-3E18-1D87-A4570AD38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64549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2DB96-89A3-FFE3-2B20-CBCF80DBB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CBC7D54-6A3F-122B-C97F-8AE1B368CF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350" y="2415950"/>
            <a:ext cx="11569700" cy="258966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1FA4CD-D965-3D5A-511B-AD312E759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5D627-84E2-235B-95F7-04F094C8E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004562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ECAC0-C2CC-90B3-DE38-726D3F03A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07329B-4E87-0474-D89E-ABD41F00A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5A4295-3027-959C-1945-CE97C0D7A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A62148F-33BF-2CFB-0459-A601830554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8334" y="1412875"/>
            <a:ext cx="8193731" cy="459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09968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0F864-E586-AB4E-8F82-975FC55F9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F674D79-306E-CEC2-85E5-FB8823E5BE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4996" y="1412875"/>
            <a:ext cx="7340407" cy="45958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9BE86A-9394-402C-7D6C-2F58BD97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4585C5-FB0E-F347-7BAD-C60BA6AC7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371887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DF4F-8815-5F9D-354A-EADA825DB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Steepness=500000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090C0F4-4C58-1CA2-2EA1-5B788CEB4F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4884" y="1412875"/>
            <a:ext cx="7820631" cy="45958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360BE-03E1-9EB0-5C46-9090A0443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B86AE-90AF-91A9-50D3-E956E46DC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080379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9B1C6-77D3-7029-983A-B60209E29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Steepness=800000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F22F55-CC7A-2105-C10D-90D0D29178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3755" y="1412875"/>
            <a:ext cx="8022889" cy="45958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4F31E7-14E8-B47B-90B1-F94DF3D83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D5950-1E40-DD12-0FCD-48321644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648487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9CF16-1F67-BC4A-0AF9-FB96DB359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D22F433-16BE-731B-C5B4-4E4B63FC4A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1697" y="1412875"/>
            <a:ext cx="5627006" cy="45958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0661C-FEDB-CA68-C951-49118D585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E8F0E-31BF-A843-20D0-3353B841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234146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A0B4-461C-BFA6-BC39-ACD98A99F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6384353-0D9E-9685-5825-4761FDB998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5880" y="1443515"/>
            <a:ext cx="5658640" cy="453453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B3620-81C8-2056-A22F-CA8D1070A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247324-CAFB-D910-BE45-E5DF06B5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153255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E5E29-11C0-A294-F207-AF69B1357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5A11DC9-57F0-05C9-7C79-F18F2EF8EE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8635" y="1412875"/>
            <a:ext cx="8353129" cy="45958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B62BD-09F3-3990-EDB0-40C3D502D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AF962-F186-8194-2A75-DF4E5105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85784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CCEF3-3B6E-87CF-00AE-520F26A07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4E73F8B-040F-1EEF-09C6-42CB0AC325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2935" y="2048437"/>
            <a:ext cx="2724530" cy="332468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20E236-B0C0-484E-6296-15734D1E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06442-16E6-C1AD-2E85-970BD3C9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427257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81DC2-DE5F-6518-B758-7073F16A1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8E1833A-70B9-44A2-00DC-68DA2E994D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3537" y="1412875"/>
            <a:ext cx="8443325" cy="45958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FA7C82-E670-A733-1E19-ADFD1CF7B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C47DDF-594B-489E-BE2F-EED40F5C4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328596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435E5-5EE7-0780-6F3C-1CD4022D7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73525C9-F91A-CE4F-1A2C-836FB34146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461" y="1412875"/>
            <a:ext cx="5799478" cy="45958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9EC5C-696F-3B7C-7F6E-8BEDB3E48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Progress Update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0E1B2-2EBC-6B4E-321B-797725F15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80334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UofWaterloo_WhiteBkgrd">
  <a:themeElements>
    <a:clrScheme name="UWaterloo Engineering">
      <a:dk1>
        <a:srgbClr val="000000"/>
      </a:dk1>
      <a:lt1>
        <a:srgbClr val="FFFFFF"/>
      </a:lt1>
      <a:dk2>
        <a:srgbClr val="757575"/>
      </a:dk2>
      <a:lt2>
        <a:srgbClr val="D6D6D6"/>
      </a:lt2>
      <a:accent1>
        <a:srgbClr val="B45DCB"/>
      </a:accent1>
      <a:accent2>
        <a:srgbClr val="0C0C0C"/>
      </a:accent2>
      <a:accent3>
        <a:srgbClr val="865DA4"/>
      </a:accent3>
      <a:accent4>
        <a:srgbClr val="C2A8F0"/>
      </a:accent4>
      <a:accent5>
        <a:srgbClr val="5D0096"/>
      </a:accent5>
      <a:accent6>
        <a:srgbClr val="865DA4"/>
      </a:accent6>
      <a:hlink>
        <a:srgbClr val="5D0096"/>
      </a:hlink>
      <a:folHlink>
        <a:srgbClr val="595959"/>
      </a:folHlink>
    </a:clrScheme>
    <a:fontScheme name="Custom 3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ulty_of_engineering_powerpoint_template_16-9_widescreen" id="{987C9BB4-A0D7-4E4D-8D46-56A52F7D2DA8}" vid="{9C87E2C4-D19B-8F42-9558-536F7D440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35D3CEC2F76A4CA1EC3507E2D03D36" ma:contentTypeVersion="16" ma:contentTypeDescription="Create a new document." ma:contentTypeScope="" ma:versionID="bb97bee70b1606bbb700640dacabe47f">
  <xsd:schema xmlns:xsd="http://www.w3.org/2001/XMLSchema" xmlns:xs="http://www.w3.org/2001/XMLSchema" xmlns:p="http://schemas.microsoft.com/office/2006/metadata/properties" xmlns:ns2="9bed8fe0-fd4c-4f92-9936-a2497f3396f6" xmlns:ns3="5d8f0207-1964-4a5e-9049-2927796093eb" targetNamespace="http://schemas.microsoft.com/office/2006/metadata/properties" ma:root="true" ma:fieldsID="5de26a37e5c2406e777d4ddd47cd8e40" ns2:_="" ns3:_="">
    <xsd:import namespace="9bed8fe0-fd4c-4f92-9936-a2497f3396f6"/>
    <xsd:import namespace="5d8f0207-1964-4a5e-9049-2927796093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ed8fe0-fd4c-4f92-9936-a2497f3396f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ba7b523d-fb2c-44c1-96a9-2a2e1bedae48}" ma:internalName="TaxCatchAll" ma:showField="CatchAllData" ma:web="9bed8fe0-fd4c-4f92-9936-a2497f3396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8f0207-1964-4a5e-9049-2927796093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8f0207-1964-4a5e-9049-2927796093eb">
      <Terms xmlns="http://schemas.microsoft.com/office/infopath/2007/PartnerControls"/>
    </lcf76f155ced4ddcb4097134ff3c332f>
    <TaxCatchAll xmlns="9bed8fe0-fd4c-4f92-9936-a2497f3396f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96CB3A-B122-4517-855C-0F4A88E98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ed8fe0-fd4c-4f92-9936-a2497f3396f6"/>
    <ds:schemaRef ds:uri="5d8f0207-1964-4a5e-9049-2927796093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6C92BA-2C15-4648-8094-8AE24EF764A2}">
  <ds:schemaRefs>
    <ds:schemaRef ds:uri="http://schemas.microsoft.com/office/2006/metadata/properties"/>
    <ds:schemaRef ds:uri="http://schemas.microsoft.com/office/infopath/2007/PartnerControls"/>
    <ds:schemaRef ds:uri="5d8f0207-1964-4a5e-9049-2927796093eb"/>
    <ds:schemaRef ds:uri="9bed8fe0-fd4c-4f92-9936-a2497f3396f6"/>
  </ds:schemaRefs>
</ds:datastoreItem>
</file>

<file path=customXml/itemProps3.xml><?xml version="1.0" encoding="utf-8"?>
<ds:datastoreItem xmlns:ds="http://schemas.openxmlformats.org/officeDocument/2006/customXml" ds:itemID="{87F4C4DB-07ED-49AD-9A79-4094EE45E6E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23a5a87-f39a-4a22-9247-3fc240c01396}" enabled="0" method="" siteId="{723a5a87-f39a-4a22-9247-3fc240c0139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engineering_powerpoint_template_16-9_widescreen</Template>
  <TotalTime>101899</TotalTime>
  <Words>484</Words>
  <Application>Microsoft Office PowerPoint</Application>
  <PresentationFormat>Widescreen</PresentationFormat>
  <Paragraphs>117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Barlow Condensed</vt:lpstr>
      <vt:lpstr>Calibri</vt:lpstr>
      <vt:lpstr>Georgia</vt:lpstr>
      <vt:lpstr>Verdana</vt:lpstr>
      <vt:lpstr>Wingdings</vt:lpstr>
      <vt:lpstr>UofWaterloo_WhiteBkgrd</vt:lpstr>
      <vt:lpstr>Research Progress Update</vt:lpstr>
      <vt:lpstr>F and g defined explicitly and calculated based on Ca,Cb,Cc of NN</vt:lpstr>
      <vt:lpstr>F and g defined explicitly and calculated based on Ca,Cb,Cc of NN</vt:lpstr>
      <vt:lpstr>F and g defined explicitly and calculated based on Ca,Cb,Cc of NN</vt:lpstr>
      <vt:lpstr>Use the 5 outputs of NN in the KKT model</vt:lpstr>
      <vt:lpstr>Use the 5 outputs of NN in the KKT model – loss values</vt:lpstr>
      <vt:lpstr>Use the 5 outputs of NN in the KKT model</vt:lpstr>
      <vt:lpstr>Use the 4 outputs of NN in the KKT model, Ca, Cb, Cc, f+g</vt:lpstr>
      <vt:lpstr>Use the 4 outputs of NN in the KKT model</vt:lpstr>
      <vt:lpstr>Use the 4 outputs of NN in the KKT model</vt:lpstr>
      <vt:lpstr>Use the 2 outputs of NN in the KKT model, Ca and f+g</vt:lpstr>
      <vt:lpstr>Use the 2 outputs of NN in the KKT model</vt:lpstr>
      <vt:lpstr>Use the 2 outputs of NN in the KKT model</vt:lpstr>
      <vt:lpstr>Float 32</vt:lpstr>
      <vt:lpstr>Float 32</vt:lpstr>
      <vt:lpstr>Float 32</vt:lpstr>
      <vt:lpstr>Float 64</vt:lpstr>
      <vt:lpstr>Float 64</vt:lpstr>
      <vt:lpstr>Float 64</vt:lpstr>
      <vt:lpstr>PowerPoint Presentation</vt:lpstr>
      <vt:lpstr>Smaller coefficients, divide by b.</vt:lpstr>
      <vt:lpstr>Divide by the norm of A and B- geometric normalization (?)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Steepness=500000</vt:lpstr>
      <vt:lpstr>Steepness=800000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Mohammad Mohammadi</dc:creator>
  <cp:lastModifiedBy>Fateme Mohammad Mohammadi</cp:lastModifiedBy>
  <cp:revision>350</cp:revision>
  <dcterms:created xsi:type="dcterms:W3CDTF">2024-09-20T14:42:09Z</dcterms:created>
  <dcterms:modified xsi:type="dcterms:W3CDTF">2025-08-21T15:40:39Z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0x0101009535D3CEC2F76A4CA1EC3507E2D03D36</vt:lpwstr>
  </property>
</Properties>
</file>